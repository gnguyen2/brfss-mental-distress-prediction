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43891200" cy="329184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just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4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399661" algn="just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4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799309" algn="just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4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198973" algn="just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4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598630" algn="just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4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1998278" algn="just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4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2397941" algn="just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4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2797603" algn="just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4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3197250" algn="just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4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Palatino Linotype"/>
          <a:ea typeface="Palatino Linotype"/>
          <a:cs typeface="Palatino Linotyp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D5E5"/>
          </a:solidFill>
        </a:fill>
      </a:tcStyle>
    </a:wholeTbl>
    <a:band2H>
      <a:tcTxStyle b="def" i="def"/>
      <a:tcStyle>
        <a:tcBdr/>
        <a:fill>
          <a:solidFill>
            <a:srgbClr val="E9EBF2"/>
          </a:solidFill>
        </a:fill>
      </a:tcStyle>
    </a:band2H>
    <a:firstCol>
      <a:tcTxStyle b="on" i="off">
        <a:font>
          <a:latin typeface="Palatino Linotype"/>
          <a:ea typeface="Palatino Linotype"/>
          <a:cs typeface="Palatino Linotyp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Palatino Linotype"/>
          <a:ea typeface="Palatino Linotype"/>
          <a:cs typeface="Palatino Linotyp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Palatino Linotype"/>
          <a:ea typeface="Palatino Linotype"/>
          <a:cs typeface="Palatino Linotyp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Palatino Linotype"/>
          <a:ea typeface="Palatino Linotype"/>
          <a:cs typeface="Palatino Linotyp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5D8CB"/>
          </a:solidFill>
        </a:fill>
      </a:tcStyle>
    </a:wholeTbl>
    <a:band2H>
      <a:tcTxStyle b="def" i="def"/>
      <a:tcStyle>
        <a:tcBdr/>
        <a:fill>
          <a:solidFill>
            <a:srgbClr val="FAECE7"/>
          </a:solidFill>
        </a:fill>
      </a:tcStyle>
    </a:band2H>
    <a:firstCol>
      <a:tcTxStyle b="on" i="off">
        <a:font>
          <a:latin typeface="Palatino Linotype"/>
          <a:ea typeface="Palatino Linotype"/>
          <a:cs typeface="Palatino Linotyp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Palatino Linotype"/>
          <a:ea typeface="Palatino Linotype"/>
          <a:cs typeface="Palatino Linotyp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Palatino Linotype"/>
          <a:ea typeface="Palatino Linotype"/>
          <a:cs typeface="Palatino Linotyp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Palatino Linotype"/>
          <a:ea typeface="Palatino Linotype"/>
          <a:cs typeface="Palatino Linotyp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7D8"/>
          </a:solidFill>
        </a:fill>
      </a:tcStyle>
    </a:wholeTbl>
    <a:band2H>
      <a:tcTxStyle b="def" i="def"/>
      <a:tcStyle>
        <a:tcBdr/>
        <a:fill>
          <a:solidFill>
            <a:srgbClr val="EBECED"/>
          </a:solidFill>
        </a:fill>
      </a:tcStyle>
    </a:band2H>
    <a:firstCol>
      <a:tcTxStyle b="on" i="off">
        <a:font>
          <a:latin typeface="Palatino Linotype"/>
          <a:ea typeface="Palatino Linotype"/>
          <a:cs typeface="Palatino Linotyp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Palatino Linotype"/>
          <a:ea typeface="Palatino Linotype"/>
          <a:cs typeface="Palatino Linotyp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Palatino Linotype"/>
          <a:ea typeface="Palatino Linotype"/>
          <a:cs typeface="Palatino Linotyp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Palatino Linotype"/>
          <a:ea typeface="Palatino Linotype"/>
          <a:cs typeface="Palatino Linotyp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Palatino Linotype"/>
          <a:ea typeface="Palatino Linotype"/>
          <a:cs typeface="Palatino Linotyp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Palatino Linotype"/>
          <a:ea typeface="Palatino Linotype"/>
          <a:cs typeface="Palatino Linotyp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Palatino Linotype"/>
          <a:ea typeface="Palatino Linotype"/>
          <a:cs typeface="Palatino Linotyp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Palatino Linotype"/>
          <a:ea typeface="Palatino Linotype"/>
          <a:cs typeface="Palatino Linotyp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Palatino Linotype"/>
          <a:ea typeface="Palatino Linotype"/>
          <a:cs typeface="Palatino Linotyp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Palatino Linotype"/>
          <a:ea typeface="Palatino Linotype"/>
          <a:cs typeface="Palatino Linotyp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Palatino Linotype"/>
          <a:ea typeface="Palatino Linotype"/>
          <a:cs typeface="Palatino Linotyp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Palatino Linotype"/>
          <a:ea typeface="Palatino Linotype"/>
          <a:cs typeface="Palatino Linotyp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Palatino Linotype"/>
          <a:ea typeface="Palatino Linotype"/>
          <a:cs typeface="Palatino Linotyp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Palatino Linotype"/>
          <a:ea typeface="Palatino Linotype"/>
          <a:cs typeface="Palatino Linotyp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Palatino Linotype"/>
          <a:ea typeface="Palatino Linotype"/>
          <a:cs typeface="Palatino Linotyp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4" name="Shape 104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300"/>
      </a:spcBef>
      <a:defRPr sz="1000">
        <a:latin typeface="+mj-lt"/>
        <a:ea typeface="+mj-ea"/>
        <a:cs typeface="+mj-cs"/>
        <a:sym typeface="Arial"/>
      </a:defRPr>
    </a:lvl1pPr>
    <a:lvl2pPr indent="228600" latinLnBrk="0">
      <a:spcBef>
        <a:spcPts val="300"/>
      </a:spcBef>
      <a:defRPr sz="1000">
        <a:latin typeface="+mj-lt"/>
        <a:ea typeface="+mj-ea"/>
        <a:cs typeface="+mj-cs"/>
        <a:sym typeface="Arial"/>
      </a:defRPr>
    </a:lvl2pPr>
    <a:lvl3pPr indent="457200" latinLnBrk="0">
      <a:spcBef>
        <a:spcPts val="300"/>
      </a:spcBef>
      <a:defRPr sz="1000">
        <a:latin typeface="+mj-lt"/>
        <a:ea typeface="+mj-ea"/>
        <a:cs typeface="+mj-cs"/>
        <a:sym typeface="Arial"/>
      </a:defRPr>
    </a:lvl3pPr>
    <a:lvl4pPr indent="685800" latinLnBrk="0">
      <a:spcBef>
        <a:spcPts val="300"/>
      </a:spcBef>
      <a:defRPr sz="1000">
        <a:latin typeface="+mj-lt"/>
        <a:ea typeface="+mj-ea"/>
        <a:cs typeface="+mj-cs"/>
        <a:sym typeface="Arial"/>
      </a:defRPr>
    </a:lvl4pPr>
    <a:lvl5pPr indent="914400" latinLnBrk="0">
      <a:spcBef>
        <a:spcPts val="300"/>
      </a:spcBef>
      <a:defRPr sz="1000">
        <a:latin typeface="+mj-lt"/>
        <a:ea typeface="+mj-ea"/>
        <a:cs typeface="+mj-cs"/>
        <a:sym typeface="Arial"/>
      </a:defRPr>
    </a:lvl5pPr>
    <a:lvl6pPr indent="1143000" latinLnBrk="0">
      <a:spcBef>
        <a:spcPts val="300"/>
      </a:spcBef>
      <a:defRPr sz="1000">
        <a:latin typeface="+mj-lt"/>
        <a:ea typeface="+mj-ea"/>
        <a:cs typeface="+mj-cs"/>
        <a:sym typeface="Arial"/>
      </a:defRPr>
    </a:lvl6pPr>
    <a:lvl7pPr indent="1371600" latinLnBrk="0">
      <a:spcBef>
        <a:spcPts val="300"/>
      </a:spcBef>
      <a:defRPr sz="1000">
        <a:latin typeface="+mj-lt"/>
        <a:ea typeface="+mj-ea"/>
        <a:cs typeface="+mj-cs"/>
        <a:sym typeface="Arial"/>
      </a:defRPr>
    </a:lvl7pPr>
    <a:lvl8pPr indent="1600200" latinLnBrk="0">
      <a:spcBef>
        <a:spcPts val="300"/>
      </a:spcBef>
      <a:defRPr sz="1000">
        <a:latin typeface="+mj-lt"/>
        <a:ea typeface="+mj-ea"/>
        <a:cs typeface="+mj-cs"/>
        <a:sym typeface="Arial"/>
      </a:defRPr>
    </a:lvl8pPr>
    <a:lvl9pPr indent="1828800" latinLnBrk="0">
      <a:spcBef>
        <a:spcPts val="300"/>
      </a:spcBef>
      <a:defRPr sz="10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Text"/>
          <p:cNvSpPr txBox="1"/>
          <p:nvPr>
            <p:ph type="title"/>
          </p:nvPr>
        </p:nvSpPr>
        <p:spPr>
          <a:xfrm>
            <a:off x="3291840" y="2926084"/>
            <a:ext cx="37307522" cy="2048256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8400"/>
            </a:lvl1pPr>
          </a:lstStyle>
          <a:p>
            <a:pPr/>
            <a:r>
              <a:t>Title Text</a:t>
            </a:r>
          </a:p>
        </p:txBody>
      </p:sp>
      <p:sp>
        <p:nvSpPr>
          <p:cNvPr id="14" name="Body Level One…"/>
          <p:cNvSpPr txBox="1"/>
          <p:nvPr>
            <p:ph type="body" sz="quarter" idx="1"/>
          </p:nvPr>
        </p:nvSpPr>
        <p:spPr>
          <a:xfrm>
            <a:off x="6583680" y="23774400"/>
            <a:ext cx="30723840" cy="585216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219456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438912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658368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877824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3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Text"/>
          <p:cNvSpPr txBox="1"/>
          <p:nvPr>
            <p:ph type="title"/>
          </p:nvPr>
        </p:nvSpPr>
        <p:spPr>
          <a:xfrm>
            <a:off x="3467101" y="6583681"/>
            <a:ext cx="37307523" cy="120243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3000"/>
            </a:lvl1pPr>
          </a:lstStyle>
          <a:p>
            <a:pPr/>
            <a:r>
              <a:t>Title Text</a:t>
            </a:r>
          </a:p>
        </p:txBody>
      </p:sp>
      <p:sp>
        <p:nvSpPr>
          <p:cNvPr id="32" name="Body Level One…"/>
          <p:cNvSpPr txBox="1"/>
          <p:nvPr>
            <p:ph type="body" sz="quarter" idx="1"/>
          </p:nvPr>
        </p:nvSpPr>
        <p:spPr>
          <a:xfrm>
            <a:off x="3467101" y="19530065"/>
            <a:ext cx="37307523" cy="54330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2300"/>
              </a:spcBef>
              <a:buSzTx/>
              <a:buFontTx/>
              <a:buNone/>
              <a:defRPr sz="9600">
                <a:solidFill>
                  <a:srgbClr val="888888"/>
                </a:solidFill>
              </a:defRPr>
            </a:lvl1pPr>
            <a:lvl2pPr marL="0" indent="2194560" algn="ctr">
              <a:spcBef>
                <a:spcPts val="2300"/>
              </a:spcBef>
              <a:buSzTx/>
              <a:buFontTx/>
              <a:buNone/>
              <a:defRPr sz="9600">
                <a:solidFill>
                  <a:srgbClr val="888888"/>
                </a:solidFill>
              </a:defRPr>
            </a:lvl2pPr>
            <a:lvl3pPr marL="0" indent="4389120" algn="ctr">
              <a:spcBef>
                <a:spcPts val="2300"/>
              </a:spcBef>
              <a:buSzTx/>
              <a:buFontTx/>
              <a:buNone/>
              <a:defRPr sz="9600">
                <a:solidFill>
                  <a:srgbClr val="888888"/>
                </a:solidFill>
              </a:defRPr>
            </a:lvl3pPr>
            <a:lvl4pPr marL="0" indent="6583680" algn="ctr">
              <a:spcBef>
                <a:spcPts val="2300"/>
              </a:spcBef>
              <a:buSzTx/>
              <a:buFontTx/>
              <a:buNone/>
              <a:defRPr sz="9600">
                <a:solidFill>
                  <a:srgbClr val="888888"/>
                </a:solidFill>
              </a:defRPr>
            </a:lvl4pPr>
            <a:lvl5pPr marL="0" indent="8778240" algn="ctr">
              <a:spcBef>
                <a:spcPts val="2300"/>
              </a:spcBef>
              <a:buSzTx/>
              <a:buFontTx/>
              <a:buNone/>
              <a:defRPr sz="96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" name="Oval 6"/>
          <p:cNvSpPr/>
          <p:nvPr/>
        </p:nvSpPr>
        <p:spPr>
          <a:xfrm>
            <a:off x="21579839" y="18836639"/>
            <a:ext cx="406907" cy="406907"/>
          </a:xfrm>
          <a:prstGeom prst="ellipse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b="1" baseline="-25000">
                <a:solidFill>
                  <a:srgbClr val="FFFFFF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pPr>
          </a:p>
        </p:txBody>
      </p:sp>
      <p:sp>
        <p:nvSpPr>
          <p:cNvPr id="34" name="Oval 7"/>
          <p:cNvSpPr/>
          <p:nvPr/>
        </p:nvSpPr>
        <p:spPr>
          <a:xfrm>
            <a:off x="22539960" y="18836639"/>
            <a:ext cx="406907" cy="406907"/>
          </a:xfrm>
          <a:prstGeom prst="ellipse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b="1" baseline="-25000">
                <a:solidFill>
                  <a:srgbClr val="FFFFFF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pPr>
          </a:p>
        </p:txBody>
      </p:sp>
      <p:sp>
        <p:nvSpPr>
          <p:cNvPr id="35" name="Oval 8"/>
          <p:cNvSpPr/>
          <p:nvPr/>
        </p:nvSpPr>
        <p:spPr>
          <a:xfrm>
            <a:off x="20624294" y="18836639"/>
            <a:ext cx="406907" cy="406907"/>
          </a:xfrm>
          <a:prstGeom prst="ellipse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b="1" baseline="-25000">
                <a:solidFill>
                  <a:srgbClr val="FFFFFF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pPr>
          </a:p>
        </p:txBody>
      </p:sp>
      <p:sp>
        <p:nvSpPr>
          <p:cNvPr id="3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4" name="Body Level One…"/>
          <p:cNvSpPr txBox="1"/>
          <p:nvPr>
            <p:ph type="body" sz="half" idx="1"/>
          </p:nvPr>
        </p:nvSpPr>
        <p:spPr>
          <a:xfrm>
            <a:off x="22311360" y="7680962"/>
            <a:ext cx="19385281" cy="2172462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3" name="Body Level One…"/>
          <p:cNvSpPr txBox="1"/>
          <p:nvPr>
            <p:ph type="body" sz="quarter" idx="1"/>
          </p:nvPr>
        </p:nvSpPr>
        <p:spPr>
          <a:xfrm>
            <a:off x="2194560" y="7680959"/>
            <a:ext cx="19392902" cy="2926081"/>
          </a:xfrm>
          <a:prstGeom prst="rect">
            <a:avLst/>
          </a:prstGeom>
        </p:spPr>
        <p:txBody>
          <a:bodyPr anchor="b"/>
          <a:lstStyle>
            <a:lvl1pPr marL="0" indent="0" algn="ctr">
              <a:buSzTx/>
              <a:buFontTx/>
              <a:buNone/>
            </a:lvl1pPr>
            <a:lvl2pPr marL="0" indent="2194560" algn="ctr">
              <a:buSzTx/>
              <a:buFontTx/>
              <a:buNone/>
            </a:lvl2pPr>
            <a:lvl3pPr marL="0" indent="4389120" algn="ctr">
              <a:buSzTx/>
              <a:buFontTx/>
              <a:buNone/>
            </a:lvl3pPr>
            <a:lvl4pPr marL="0" indent="6583680" algn="ctr">
              <a:buSzTx/>
              <a:buFontTx/>
              <a:buNone/>
            </a:lvl4pPr>
            <a:lvl5pPr marL="0" indent="8778240" algn="ctr">
              <a:buSzTx/>
              <a:buFontTx/>
              <a:buNone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4" name="Text Placeholder 4"/>
          <p:cNvSpPr/>
          <p:nvPr>
            <p:ph type="body" sz="quarter" idx="21"/>
          </p:nvPr>
        </p:nvSpPr>
        <p:spPr>
          <a:xfrm>
            <a:off x="22311362" y="7680959"/>
            <a:ext cx="19400521" cy="2926081"/>
          </a:xfrm>
          <a:prstGeom prst="rect">
            <a:avLst/>
          </a:prstGeom>
        </p:spPr>
        <p:txBody>
          <a:bodyPr anchor="b"/>
          <a:lstStyle/>
          <a:p>
            <a:pPr marL="0" indent="0" algn="ctr">
              <a:buSzTx/>
              <a:buFontTx/>
              <a:buNone/>
            </a:pPr>
          </a:p>
        </p:txBody>
      </p:sp>
      <p:sp>
        <p:nvSpPr>
          <p:cNvPr id="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 0">
    <p:bg>
      <p:bgPr>
        <a:gradFill flip="none" rotWithShape="1">
          <a:gsLst>
            <a:gs pos="0">
              <a:srgbClr val="F2F2F2"/>
            </a:gs>
            <a:gs pos="100000">
              <a:srgbClr val="D6D9DA"/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Text"/>
          <p:cNvSpPr txBox="1"/>
          <p:nvPr>
            <p:ph type="title"/>
          </p:nvPr>
        </p:nvSpPr>
        <p:spPr>
          <a:xfrm>
            <a:off x="28354021" y="1280160"/>
            <a:ext cx="14439902" cy="1005840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3400">
                <a:effectLst>
                  <a:outerShdw sx="100000" sy="100000" kx="0" ky="0" algn="b" rotWithShape="0" blurRad="50800" dist="25400" dir="540000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85" name="Body Level One…"/>
          <p:cNvSpPr txBox="1"/>
          <p:nvPr>
            <p:ph type="body" idx="1"/>
          </p:nvPr>
        </p:nvSpPr>
        <p:spPr>
          <a:xfrm>
            <a:off x="3451859" y="1310642"/>
            <a:ext cx="23980144" cy="28094944"/>
          </a:xfrm>
          <a:prstGeom prst="rect">
            <a:avLst/>
          </a:prstGeom>
        </p:spPr>
        <p:txBody>
          <a:bodyPr/>
          <a:lstStyle>
            <a:lvl1pPr>
              <a:spcBef>
                <a:spcPts val="3600"/>
              </a:spcBef>
              <a:defRPr sz="15400"/>
            </a:lvl1pPr>
            <a:lvl2pPr marL="3770876" indent="-1576316">
              <a:spcBef>
                <a:spcPts val="3600"/>
              </a:spcBef>
              <a:defRPr sz="15400"/>
            </a:lvl2pPr>
            <a:lvl3pPr marL="5858521" indent="-1469401">
              <a:spcBef>
                <a:spcPts val="3600"/>
              </a:spcBef>
              <a:defRPr sz="15400"/>
            </a:lvl3pPr>
            <a:lvl4pPr marL="8343900" indent="-1760220">
              <a:spcBef>
                <a:spcPts val="3600"/>
              </a:spcBef>
              <a:defRPr sz="15400"/>
            </a:lvl4pPr>
            <a:lvl5pPr marL="10538459" indent="-1760220">
              <a:spcBef>
                <a:spcPts val="3600"/>
              </a:spcBef>
              <a:defRPr sz="1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Text Placeholder 3"/>
          <p:cNvSpPr/>
          <p:nvPr>
            <p:ph type="body" sz="quarter" idx="21"/>
          </p:nvPr>
        </p:nvSpPr>
        <p:spPr>
          <a:xfrm>
            <a:off x="28354021" y="11704322"/>
            <a:ext cx="14439903" cy="17701263"/>
          </a:xfrm>
          <a:prstGeom prst="rect">
            <a:avLst/>
          </a:prstGeom>
        </p:spPr>
        <p:txBody>
          <a:bodyPr/>
          <a:lstStyle/>
          <a:p>
            <a:pPr marL="0" indent="0" algn="ctr">
              <a:lnSpc>
                <a:spcPct val="125000"/>
              </a:lnSpc>
              <a:spcBef>
                <a:spcPts val="1800"/>
              </a:spcBef>
              <a:buSzTx/>
              <a:buFontTx/>
              <a:buNone/>
              <a:defRPr sz="7700"/>
            </a:pPr>
          </a:p>
        </p:txBody>
      </p:sp>
      <p:sp>
        <p:nvSpPr>
          <p:cNvPr id="8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Text"/>
          <p:cNvSpPr txBox="1"/>
          <p:nvPr>
            <p:ph type="title"/>
          </p:nvPr>
        </p:nvSpPr>
        <p:spPr>
          <a:xfrm>
            <a:off x="8061965" y="1097280"/>
            <a:ext cx="27416755" cy="429768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3400"/>
            </a:lvl1pPr>
          </a:lstStyle>
          <a:p>
            <a:pPr/>
            <a:r>
              <a:t>Title Text</a:t>
            </a:r>
          </a:p>
        </p:txBody>
      </p:sp>
      <p:sp>
        <p:nvSpPr>
          <p:cNvPr id="95" name="Picture Placeholder 2"/>
          <p:cNvSpPr/>
          <p:nvPr>
            <p:ph type="pic" idx="21"/>
          </p:nvPr>
        </p:nvSpPr>
        <p:spPr>
          <a:xfrm>
            <a:off x="7239004" y="5486400"/>
            <a:ext cx="29062677" cy="21797011"/>
          </a:xfrm>
          <a:prstGeom prst="rect">
            <a:avLst/>
          </a:prstGeom>
          <a:ln w="76200">
            <a:solidFill>
              <a:srgbClr val="FFFFFF"/>
            </a:solidFill>
            <a:round/>
          </a:ln>
          <a:effectLst>
            <a:outerShdw sx="100000" sy="100000" kx="0" ky="0" algn="b" rotWithShape="0" blurRad="88900" dist="50800" dir="5400000">
              <a:srgbClr val="000000">
                <a:alpha val="25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96" name="Body Level One…"/>
          <p:cNvSpPr txBox="1"/>
          <p:nvPr>
            <p:ph type="body" sz="quarter" idx="1"/>
          </p:nvPr>
        </p:nvSpPr>
        <p:spPr>
          <a:xfrm>
            <a:off x="8061965" y="27889200"/>
            <a:ext cx="27416755" cy="2560321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1800"/>
              </a:spcBef>
              <a:buSzTx/>
              <a:buFontTx/>
              <a:buNone/>
              <a:defRPr sz="7700"/>
            </a:lvl1pPr>
            <a:lvl2pPr marL="0" indent="2194560" algn="ctr">
              <a:spcBef>
                <a:spcPts val="1800"/>
              </a:spcBef>
              <a:buSzTx/>
              <a:buFontTx/>
              <a:buNone/>
              <a:defRPr sz="7700"/>
            </a:lvl2pPr>
            <a:lvl3pPr marL="0" indent="4389120" algn="ctr">
              <a:spcBef>
                <a:spcPts val="1800"/>
              </a:spcBef>
              <a:buSzTx/>
              <a:buFontTx/>
              <a:buNone/>
              <a:defRPr sz="7700"/>
            </a:lvl3pPr>
            <a:lvl4pPr marL="0" indent="6583680" algn="ctr">
              <a:spcBef>
                <a:spcPts val="1800"/>
              </a:spcBef>
              <a:buSzTx/>
              <a:buFontTx/>
              <a:buNone/>
              <a:defRPr sz="7700"/>
            </a:lvl4pPr>
            <a:lvl5pPr marL="0" indent="8778240" algn="ctr">
              <a:spcBef>
                <a:spcPts val="1800"/>
              </a:spcBef>
              <a:buSzTx/>
              <a:buFontTx/>
              <a:buNone/>
              <a:defRPr sz="7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gradFill flip="none" rotWithShape="1">
          <a:gsLst>
            <a:gs pos="50000">
              <a:srgbClr val="FFFFFF"/>
            </a:gs>
            <a:gs pos="76000">
              <a:srgbClr val="F3F3F3"/>
            </a:gs>
            <a:gs pos="92000">
              <a:srgbClr val="D9D9D9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"/>
          <p:cNvSpPr/>
          <p:nvPr/>
        </p:nvSpPr>
        <p:spPr>
          <a:xfrm>
            <a:off x="40597249" y="31197041"/>
            <a:ext cx="406907" cy="406907"/>
          </a:xfrm>
          <a:prstGeom prst="ellipse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4389120">
              <a:defRPr b="1" baseline="-25000" sz="8600">
                <a:solidFill>
                  <a:srgbClr val="FFFFFF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pPr>
          </a:p>
        </p:txBody>
      </p:sp>
      <p:sp>
        <p:nvSpPr>
          <p:cNvPr id="3" name="Oval 7"/>
          <p:cNvSpPr/>
          <p:nvPr/>
        </p:nvSpPr>
        <p:spPr>
          <a:xfrm>
            <a:off x="2731771" y="31197041"/>
            <a:ext cx="406907" cy="406907"/>
          </a:xfrm>
          <a:prstGeom prst="ellipse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b="1" baseline="-25000">
                <a:solidFill>
                  <a:srgbClr val="FFFFFF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pPr>
          </a:p>
        </p:txBody>
      </p:sp>
      <p:sp>
        <p:nvSpPr>
          <p:cNvPr id="4" name="Title Text"/>
          <p:cNvSpPr txBox="1"/>
          <p:nvPr>
            <p:ph type="title"/>
          </p:nvPr>
        </p:nvSpPr>
        <p:spPr>
          <a:xfrm>
            <a:off x="2194560" y="0"/>
            <a:ext cx="39502079" cy="7680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19456" tIns="219456" rIns="219456" bIns="219456" anchor="b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5" name="Body Level One…"/>
          <p:cNvSpPr txBox="1"/>
          <p:nvPr>
            <p:ph type="body" idx="1"/>
          </p:nvPr>
        </p:nvSpPr>
        <p:spPr>
          <a:xfrm>
            <a:off x="2194560" y="7680962"/>
            <a:ext cx="39502079" cy="217246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19456" tIns="219456" rIns="219456" bIns="219456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/>
          <p:nvPr>
            <p:ph type="sldNum" sz="quarter" idx="2"/>
          </p:nvPr>
        </p:nvSpPr>
        <p:spPr>
          <a:xfrm>
            <a:off x="41007735" y="30734280"/>
            <a:ext cx="826101" cy="1305003"/>
          </a:xfrm>
          <a:prstGeom prst="rect">
            <a:avLst/>
          </a:prstGeom>
          <a:ln w="12700">
            <a:miter lim="400000"/>
          </a:ln>
        </p:spPr>
        <p:txBody>
          <a:bodyPr wrap="none" lIns="131674" tIns="131674" rIns="131674" bIns="131674" anchor="ctr">
            <a:spAutoFit/>
          </a:bodyPr>
          <a:lstStyle>
            <a:lvl1pPr algn="l">
              <a:defRPr b="1" baseline="-25000" sz="58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xmlns:p14="http://schemas.microsoft.com/office/powerpoint/2010/main" spd="med" advClick="1"/>
  <p:txStyles>
    <p:titleStyle>
      <a:lvl1pPr marL="0" marR="0" indent="0" algn="ctr" defTabSz="4389120" rtl="0" latinLnBrk="0">
        <a:lnSpc>
          <a:spcPts val="278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5900" u="none">
          <a:solidFill>
            <a:srgbClr val="2F5897"/>
          </a:solidFill>
          <a:effectLst>
            <a:outerShdw sx="100000" sy="100000" kx="0" ky="0" algn="b" rotWithShape="0" blurRad="63500" dist="38100" dir="5400000">
              <a:srgbClr val="000000">
                <a:alpha val="25000"/>
              </a:srgbClr>
            </a:outerShdw>
          </a:effectLst>
          <a:uFillTx/>
          <a:latin typeface="Palatino Linotype"/>
          <a:ea typeface="Palatino Linotype"/>
          <a:cs typeface="Palatino Linotype"/>
          <a:sym typeface="Palatino Linotype"/>
        </a:defRPr>
      </a:lvl1pPr>
      <a:lvl2pPr marL="0" marR="0" indent="0" algn="ctr" defTabSz="4389120" rtl="0" latinLnBrk="0">
        <a:lnSpc>
          <a:spcPts val="278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5900" u="none">
          <a:solidFill>
            <a:srgbClr val="2F5897"/>
          </a:solidFill>
          <a:effectLst>
            <a:outerShdw sx="100000" sy="100000" kx="0" ky="0" algn="b" rotWithShape="0" blurRad="63500" dist="38100" dir="5400000">
              <a:srgbClr val="000000">
                <a:alpha val="25000"/>
              </a:srgbClr>
            </a:outerShdw>
          </a:effectLst>
          <a:uFillTx/>
          <a:latin typeface="Palatino Linotype"/>
          <a:ea typeface="Palatino Linotype"/>
          <a:cs typeface="Palatino Linotype"/>
          <a:sym typeface="Palatino Linotype"/>
        </a:defRPr>
      </a:lvl2pPr>
      <a:lvl3pPr marL="0" marR="0" indent="0" algn="ctr" defTabSz="4389120" rtl="0" latinLnBrk="0">
        <a:lnSpc>
          <a:spcPts val="278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5900" u="none">
          <a:solidFill>
            <a:srgbClr val="2F5897"/>
          </a:solidFill>
          <a:effectLst>
            <a:outerShdw sx="100000" sy="100000" kx="0" ky="0" algn="b" rotWithShape="0" blurRad="63500" dist="38100" dir="5400000">
              <a:srgbClr val="000000">
                <a:alpha val="25000"/>
              </a:srgbClr>
            </a:outerShdw>
          </a:effectLst>
          <a:uFillTx/>
          <a:latin typeface="Palatino Linotype"/>
          <a:ea typeface="Palatino Linotype"/>
          <a:cs typeface="Palatino Linotype"/>
          <a:sym typeface="Palatino Linotype"/>
        </a:defRPr>
      </a:lvl3pPr>
      <a:lvl4pPr marL="0" marR="0" indent="0" algn="ctr" defTabSz="4389120" rtl="0" latinLnBrk="0">
        <a:lnSpc>
          <a:spcPts val="278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5900" u="none">
          <a:solidFill>
            <a:srgbClr val="2F5897"/>
          </a:solidFill>
          <a:effectLst>
            <a:outerShdw sx="100000" sy="100000" kx="0" ky="0" algn="b" rotWithShape="0" blurRad="63500" dist="38100" dir="5400000">
              <a:srgbClr val="000000">
                <a:alpha val="25000"/>
              </a:srgbClr>
            </a:outerShdw>
          </a:effectLst>
          <a:uFillTx/>
          <a:latin typeface="Palatino Linotype"/>
          <a:ea typeface="Palatino Linotype"/>
          <a:cs typeface="Palatino Linotype"/>
          <a:sym typeface="Palatino Linotype"/>
        </a:defRPr>
      </a:lvl4pPr>
      <a:lvl5pPr marL="0" marR="0" indent="0" algn="ctr" defTabSz="4389120" rtl="0" latinLnBrk="0">
        <a:lnSpc>
          <a:spcPts val="278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5900" u="none">
          <a:solidFill>
            <a:srgbClr val="2F5897"/>
          </a:solidFill>
          <a:effectLst>
            <a:outerShdw sx="100000" sy="100000" kx="0" ky="0" algn="b" rotWithShape="0" blurRad="63500" dist="38100" dir="5400000">
              <a:srgbClr val="000000">
                <a:alpha val="25000"/>
              </a:srgbClr>
            </a:outerShdw>
          </a:effectLst>
          <a:uFillTx/>
          <a:latin typeface="Palatino Linotype"/>
          <a:ea typeface="Palatino Linotype"/>
          <a:cs typeface="Palatino Linotype"/>
          <a:sym typeface="Palatino Linotype"/>
        </a:defRPr>
      </a:lvl5pPr>
      <a:lvl6pPr marL="0" marR="0" indent="0" algn="ctr" defTabSz="4389120" rtl="0" latinLnBrk="0">
        <a:lnSpc>
          <a:spcPts val="278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5900" u="none">
          <a:solidFill>
            <a:srgbClr val="2F5897"/>
          </a:solidFill>
          <a:effectLst>
            <a:outerShdw sx="100000" sy="100000" kx="0" ky="0" algn="b" rotWithShape="0" blurRad="63500" dist="38100" dir="5400000">
              <a:srgbClr val="000000">
                <a:alpha val="25000"/>
              </a:srgbClr>
            </a:outerShdw>
          </a:effectLst>
          <a:uFillTx/>
          <a:latin typeface="Palatino Linotype"/>
          <a:ea typeface="Palatino Linotype"/>
          <a:cs typeface="Palatino Linotype"/>
          <a:sym typeface="Palatino Linotype"/>
        </a:defRPr>
      </a:lvl6pPr>
      <a:lvl7pPr marL="0" marR="0" indent="0" algn="ctr" defTabSz="4389120" rtl="0" latinLnBrk="0">
        <a:lnSpc>
          <a:spcPts val="278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5900" u="none">
          <a:solidFill>
            <a:srgbClr val="2F5897"/>
          </a:solidFill>
          <a:effectLst>
            <a:outerShdw sx="100000" sy="100000" kx="0" ky="0" algn="b" rotWithShape="0" blurRad="63500" dist="38100" dir="5400000">
              <a:srgbClr val="000000">
                <a:alpha val="25000"/>
              </a:srgbClr>
            </a:outerShdw>
          </a:effectLst>
          <a:uFillTx/>
          <a:latin typeface="Palatino Linotype"/>
          <a:ea typeface="Palatino Linotype"/>
          <a:cs typeface="Palatino Linotype"/>
          <a:sym typeface="Palatino Linotype"/>
        </a:defRPr>
      </a:lvl7pPr>
      <a:lvl8pPr marL="0" marR="0" indent="0" algn="ctr" defTabSz="4389120" rtl="0" latinLnBrk="0">
        <a:lnSpc>
          <a:spcPts val="278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5900" u="none">
          <a:solidFill>
            <a:srgbClr val="2F5897"/>
          </a:solidFill>
          <a:effectLst>
            <a:outerShdw sx="100000" sy="100000" kx="0" ky="0" algn="b" rotWithShape="0" blurRad="63500" dist="38100" dir="5400000">
              <a:srgbClr val="000000">
                <a:alpha val="25000"/>
              </a:srgbClr>
            </a:outerShdw>
          </a:effectLst>
          <a:uFillTx/>
          <a:latin typeface="Palatino Linotype"/>
          <a:ea typeface="Palatino Linotype"/>
          <a:cs typeface="Palatino Linotype"/>
          <a:sym typeface="Palatino Linotype"/>
        </a:defRPr>
      </a:lvl8pPr>
      <a:lvl9pPr marL="0" marR="0" indent="0" algn="ctr" defTabSz="4389120" rtl="0" latinLnBrk="0">
        <a:lnSpc>
          <a:spcPts val="278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5900" u="none">
          <a:solidFill>
            <a:srgbClr val="2F5897"/>
          </a:solidFill>
          <a:effectLst>
            <a:outerShdw sx="100000" sy="100000" kx="0" ky="0" algn="b" rotWithShape="0" blurRad="63500" dist="38100" dir="5400000">
              <a:srgbClr val="000000">
                <a:alpha val="25000"/>
              </a:srgbClr>
            </a:outerShdw>
          </a:effectLst>
          <a:uFillTx/>
          <a:latin typeface="Palatino Linotype"/>
          <a:ea typeface="Palatino Linotype"/>
          <a:cs typeface="Palatino Linotype"/>
          <a:sym typeface="Palatino Linotype"/>
        </a:defRPr>
      </a:lvl9pPr>
    </p:titleStyle>
    <p:bodyStyle>
      <a:lvl1pPr marL="1645920" marR="0" indent="-1645920" algn="l" defTabSz="4389120" rtl="0" latinLnBrk="0">
        <a:lnSpc>
          <a:spcPct val="100000"/>
        </a:lnSpc>
        <a:spcBef>
          <a:spcPts val="2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11500" u="none">
          <a:solidFill>
            <a:srgbClr val="808080"/>
          </a:solidFill>
          <a:uFillTx/>
          <a:latin typeface="Century Gothic"/>
          <a:ea typeface="Century Gothic"/>
          <a:cs typeface="Century Gothic"/>
          <a:sym typeface="Century Gothic"/>
        </a:defRPr>
      </a:lvl1pPr>
      <a:lvl2pPr marL="4243053" marR="0" indent="-2048493" algn="l" defTabSz="4389120" rtl="0" latinLnBrk="0">
        <a:lnSpc>
          <a:spcPct val="100000"/>
        </a:lnSpc>
        <a:spcBef>
          <a:spcPts val="2700"/>
        </a:spcBef>
        <a:spcAft>
          <a:spcPts val="0"/>
        </a:spcAft>
        <a:buClrTx/>
        <a:buSzPct val="100000"/>
        <a:buFont typeface="Arial"/>
        <a:buChar char="o"/>
        <a:tabLst/>
        <a:defRPr b="0" baseline="0" cap="none" i="0" spc="0" strike="noStrike" sz="11500" u="none">
          <a:solidFill>
            <a:srgbClr val="808080"/>
          </a:solidFill>
          <a:uFillTx/>
          <a:latin typeface="Century Gothic"/>
          <a:ea typeface="Century Gothic"/>
          <a:cs typeface="Century Gothic"/>
          <a:sym typeface="Century Gothic"/>
        </a:defRPr>
      </a:lvl2pPr>
      <a:lvl3pPr marL="6027915" marR="0" indent="-1638794" algn="l" defTabSz="4389120" rtl="0" latinLnBrk="0">
        <a:lnSpc>
          <a:spcPct val="100000"/>
        </a:lnSpc>
        <a:spcBef>
          <a:spcPts val="2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11500" u="none">
          <a:solidFill>
            <a:srgbClr val="808080"/>
          </a:solidFill>
          <a:uFillTx/>
          <a:latin typeface="Century Gothic"/>
          <a:ea typeface="Century Gothic"/>
          <a:cs typeface="Century Gothic"/>
          <a:sym typeface="Century Gothic"/>
        </a:defRPr>
      </a:lvl3pPr>
      <a:lvl4pPr marL="8222474" marR="0" indent="-1638795" algn="l" defTabSz="4389120" rtl="0" latinLnBrk="0">
        <a:lnSpc>
          <a:spcPct val="100000"/>
        </a:lnSpc>
        <a:spcBef>
          <a:spcPts val="2700"/>
        </a:spcBef>
        <a:spcAft>
          <a:spcPts val="0"/>
        </a:spcAft>
        <a:buClrTx/>
        <a:buSzPct val="100000"/>
        <a:buFont typeface="Arial"/>
        <a:buChar char="o"/>
        <a:tabLst/>
        <a:defRPr b="0" baseline="0" cap="none" i="0" spc="0" strike="noStrike" sz="11500" u="none">
          <a:solidFill>
            <a:srgbClr val="808080"/>
          </a:solidFill>
          <a:uFillTx/>
          <a:latin typeface="Century Gothic"/>
          <a:ea typeface="Century Gothic"/>
          <a:cs typeface="Century Gothic"/>
          <a:sym typeface="Century Gothic"/>
        </a:defRPr>
      </a:lvl4pPr>
      <a:lvl5pPr marL="10417034" marR="0" indent="-1638795" algn="l" defTabSz="4389120" rtl="0" latinLnBrk="0">
        <a:lnSpc>
          <a:spcPct val="100000"/>
        </a:lnSpc>
        <a:spcBef>
          <a:spcPts val="2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11500" u="none">
          <a:solidFill>
            <a:srgbClr val="808080"/>
          </a:solidFill>
          <a:uFillTx/>
          <a:latin typeface="Century Gothic"/>
          <a:ea typeface="Century Gothic"/>
          <a:cs typeface="Century Gothic"/>
          <a:sym typeface="Century Gothic"/>
        </a:defRPr>
      </a:lvl5pPr>
      <a:lvl6pPr marL="12611595" marR="0" indent="-1638795" algn="l" defTabSz="4389120" rtl="0" latinLnBrk="0">
        <a:lnSpc>
          <a:spcPct val="100000"/>
        </a:lnSpc>
        <a:spcBef>
          <a:spcPts val="2700"/>
        </a:spcBef>
        <a:spcAft>
          <a:spcPts val="0"/>
        </a:spcAft>
        <a:buClrTx/>
        <a:buSzPct val="100000"/>
        <a:buFont typeface="Arial"/>
        <a:buChar char="o"/>
        <a:tabLst/>
        <a:defRPr b="0" baseline="0" cap="none" i="0" spc="0" strike="noStrike" sz="11500" u="none">
          <a:solidFill>
            <a:srgbClr val="808080"/>
          </a:solidFill>
          <a:uFillTx/>
          <a:latin typeface="Century Gothic"/>
          <a:ea typeface="Century Gothic"/>
          <a:cs typeface="Century Gothic"/>
          <a:sym typeface="Century Gothic"/>
        </a:defRPr>
      </a:lvl6pPr>
      <a:lvl7pPr marL="14806153" marR="0" indent="-1638794" algn="l" defTabSz="4389120" rtl="0" latinLnBrk="0">
        <a:lnSpc>
          <a:spcPct val="100000"/>
        </a:lnSpc>
        <a:spcBef>
          <a:spcPts val="2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11500" u="none">
          <a:solidFill>
            <a:srgbClr val="808080"/>
          </a:solidFill>
          <a:uFillTx/>
          <a:latin typeface="Century Gothic"/>
          <a:ea typeface="Century Gothic"/>
          <a:cs typeface="Century Gothic"/>
          <a:sym typeface="Century Gothic"/>
        </a:defRPr>
      </a:lvl7pPr>
      <a:lvl8pPr marL="17000714" marR="0" indent="-1638794" algn="l" defTabSz="4389120" rtl="0" latinLnBrk="0">
        <a:lnSpc>
          <a:spcPct val="100000"/>
        </a:lnSpc>
        <a:spcBef>
          <a:spcPts val="2700"/>
        </a:spcBef>
        <a:spcAft>
          <a:spcPts val="0"/>
        </a:spcAft>
        <a:buClrTx/>
        <a:buSzPct val="100000"/>
        <a:buFont typeface="Arial"/>
        <a:buChar char="o"/>
        <a:tabLst/>
        <a:defRPr b="0" baseline="0" cap="none" i="0" spc="0" strike="noStrike" sz="11500" u="none">
          <a:solidFill>
            <a:srgbClr val="808080"/>
          </a:solidFill>
          <a:uFillTx/>
          <a:latin typeface="Century Gothic"/>
          <a:ea typeface="Century Gothic"/>
          <a:cs typeface="Century Gothic"/>
          <a:sym typeface="Century Gothic"/>
        </a:defRPr>
      </a:lvl8pPr>
      <a:lvl9pPr marL="19195274" marR="0" indent="-1638794" algn="l" defTabSz="4389120" rtl="0" latinLnBrk="0">
        <a:lnSpc>
          <a:spcPct val="100000"/>
        </a:lnSpc>
        <a:spcBef>
          <a:spcPts val="2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11500" u="none">
          <a:solidFill>
            <a:srgbClr val="808080"/>
          </a:solidFill>
          <a:uFillTx/>
          <a:latin typeface="Century Gothic"/>
          <a:ea typeface="Century Gothic"/>
          <a:cs typeface="Century Gothic"/>
          <a:sym typeface="Century Gothic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-25000" cap="none" i="0" spc="0" strike="noStrike" sz="58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1pPr>
      <a:lvl2pPr marL="0" marR="0" indent="399661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-25000" cap="none" i="0" spc="0" strike="noStrike" sz="58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2pPr>
      <a:lvl3pPr marL="0" marR="0" indent="799309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-25000" cap="none" i="0" spc="0" strike="noStrike" sz="58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3pPr>
      <a:lvl4pPr marL="0" marR="0" indent="1198973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-25000" cap="none" i="0" spc="0" strike="noStrike" sz="58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4pPr>
      <a:lvl5pPr marL="0" marR="0" indent="159863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-25000" cap="none" i="0" spc="0" strike="noStrike" sz="58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5pPr>
      <a:lvl6pPr marL="0" marR="0" indent="1998278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-25000" cap="none" i="0" spc="0" strike="noStrike" sz="58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6pPr>
      <a:lvl7pPr marL="0" marR="0" indent="2397941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-25000" cap="none" i="0" spc="0" strike="noStrike" sz="58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7pPr>
      <a:lvl8pPr marL="0" marR="0" indent="2797603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-25000" cap="none" i="0" spc="0" strike="noStrike" sz="58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8pPr>
      <a:lvl9pPr marL="0" marR="0" indent="319725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-25000" cap="none" i="0" spc="0" strike="noStrike" sz="58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Box 16"/>
          <p:cNvSpPr txBox="1"/>
          <p:nvPr/>
        </p:nvSpPr>
        <p:spPr>
          <a:xfrm>
            <a:off x="8565946" y="914587"/>
            <a:ext cx="27939918" cy="6258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9969" tIns="39969" rIns="39969" bIns="39969">
            <a:spAutoFit/>
          </a:bodyPr>
          <a:lstStyle/>
          <a:p>
            <a:pPr algn="ctr" defTabSz="5016500">
              <a:defRPr sz="7200">
                <a:latin typeface="+mj-lt"/>
                <a:ea typeface="+mj-ea"/>
                <a:cs typeface="+mj-cs"/>
                <a:sym typeface="Arial"/>
              </a:defRPr>
            </a:pPr>
            <a:r>
              <a:t>From Population Trends to Individual Risk: Predicting Frequent Mental Distress Using BRFSS Survey Data (2019–2024)</a:t>
            </a:r>
          </a:p>
          <a:p>
            <a:pPr algn="ctr" defTabSz="5016500">
              <a:defRPr sz="7200">
                <a:latin typeface="+mj-lt"/>
                <a:ea typeface="+mj-ea"/>
                <a:cs typeface="+mj-cs"/>
                <a:sym typeface="Arial"/>
              </a:defRPr>
            </a:pPr>
            <a:r>
              <a:t>Gia Nguyen, Juan Perez, Cole Jaramillo</a:t>
            </a:r>
            <a:endParaRPr baseline="-18999" sz="4000"/>
          </a:p>
          <a:p>
            <a:pPr algn="ctr" defTabSz="5016500">
              <a:defRPr baseline="-18999" sz="8200"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07" name="Text Box 18"/>
          <p:cNvSpPr txBox="1"/>
          <p:nvPr/>
        </p:nvSpPr>
        <p:spPr>
          <a:xfrm>
            <a:off x="4489487" y="4539453"/>
            <a:ext cx="37279864" cy="7584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9969" tIns="39969" rIns="39969" bIns="39969">
            <a:spAutoFit/>
          </a:bodyPr>
          <a:lstStyle>
            <a:lvl1pPr algn="ctr" defTabSz="5016500">
              <a:lnSpc>
                <a:spcPct val="60000"/>
              </a:lnSpc>
              <a:spcBef>
                <a:spcPts val="2800"/>
              </a:spcBef>
              <a:defRPr sz="48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University of Houston </a:t>
            </a:r>
          </a:p>
        </p:txBody>
      </p:sp>
      <p:sp>
        <p:nvSpPr>
          <p:cNvPr id="108" name="Rectangle 45"/>
          <p:cNvSpPr txBox="1"/>
          <p:nvPr/>
        </p:nvSpPr>
        <p:spPr>
          <a:xfrm>
            <a:off x="1411554" y="9118164"/>
            <a:ext cx="13048264" cy="1612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9969" tIns="39969" rIns="39969" bIns="39969" anchor="ctr">
            <a:spAutoFit/>
          </a:bodyPr>
          <a:lstStyle/>
          <a:p>
            <a:pPr algn="ctr">
              <a:defRPr baseline="-18999" sz="4300">
                <a:latin typeface="+mj-lt"/>
                <a:ea typeface="+mj-ea"/>
                <a:cs typeface="+mj-cs"/>
                <a:sym typeface="Arial"/>
              </a:defRPr>
            </a:pPr>
          </a:p>
          <a:p>
            <a:pPr algn="ctr">
              <a:defRPr baseline="-18999" sz="1900">
                <a:latin typeface="+mj-lt"/>
                <a:ea typeface="+mj-ea"/>
                <a:cs typeface="+mj-cs"/>
                <a:sym typeface="Arial"/>
              </a:defRPr>
            </a:pPr>
          </a:p>
          <a:p>
            <a:pPr>
              <a:spcBef>
                <a:spcPts val="2600"/>
              </a:spcBef>
              <a:defRPr>
                <a:latin typeface="+mj-lt"/>
                <a:ea typeface="+mj-ea"/>
                <a:cs typeface="+mj-cs"/>
                <a:sym typeface="Arial"/>
              </a:defRPr>
            </a:pPr>
            <a:r>
              <a:t>	</a:t>
            </a:r>
          </a:p>
        </p:txBody>
      </p:sp>
      <p:grpSp>
        <p:nvGrpSpPr>
          <p:cNvPr id="113" name="Group 1"/>
          <p:cNvGrpSpPr/>
          <p:nvPr/>
        </p:nvGrpSpPr>
        <p:grpSpPr>
          <a:xfrm>
            <a:off x="101440" y="5465024"/>
            <a:ext cx="14781850" cy="7121192"/>
            <a:chOff x="-87966" y="0"/>
            <a:chExt cx="14781849" cy="7121190"/>
          </a:xfrm>
        </p:grpSpPr>
        <p:sp>
          <p:nvSpPr>
            <p:cNvPr id="109" name="Rectangle 31"/>
            <p:cNvSpPr/>
            <p:nvPr/>
          </p:nvSpPr>
          <p:spPr>
            <a:xfrm>
              <a:off x="0" y="0"/>
              <a:ext cx="14634390" cy="7121191"/>
            </a:xfrm>
            <a:prstGeom prst="rect">
              <a:avLst/>
            </a:prstGeom>
            <a:noFill/>
            <a:ln w="12700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l">
                <a:defRPr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grpSp>
          <p:nvGrpSpPr>
            <p:cNvPr id="112" name="Rectangle 69"/>
            <p:cNvGrpSpPr/>
            <p:nvPr/>
          </p:nvGrpSpPr>
          <p:grpSpPr>
            <a:xfrm>
              <a:off x="-87967" y="10287"/>
              <a:ext cx="14781850" cy="759221"/>
              <a:chOff x="-87966" y="0"/>
              <a:chExt cx="14781849" cy="759219"/>
            </a:xfrm>
          </p:grpSpPr>
          <p:sp>
            <p:nvSpPr>
              <p:cNvPr id="110" name="Shape"/>
              <p:cNvSpPr/>
              <p:nvPr/>
            </p:nvSpPr>
            <p:spPr>
              <a:xfrm>
                <a:off x="-87967" y="-1"/>
                <a:ext cx="14781850" cy="7592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579" y="21240"/>
                    </a:lnTo>
                    <a:lnTo>
                      <a:pt x="21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102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ctr">
                  <a:defRPr baseline="-25000">
                    <a:latin typeface="+mj-lt"/>
                    <a:ea typeface="+mj-ea"/>
                    <a:cs typeface="+mj-cs"/>
                    <a:sym typeface="Arial"/>
                  </a:defRPr>
                </a:pPr>
              </a:p>
            </p:txBody>
          </p:sp>
          <p:sp>
            <p:nvSpPr>
              <p:cNvPr id="111" name="Abstract"/>
              <p:cNvSpPr txBox="1"/>
              <p:nvPr/>
            </p:nvSpPr>
            <p:spPr>
              <a:xfrm>
                <a:off x="45214" y="-1"/>
                <a:ext cx="14569970" cy="7079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>
                <a:lvl1pPr algn="ctr">
                  <a:defRPr sz="430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  <a:sym typeface="Arial"/>
                  </a:defRPr>
                </a:lvl1pPr>
              </a:lstStyle>
              <a:p>
                <a:pPr/>
                <a:r>
                  <a:t>Abstract</a:t>
                </a:r>
              </a:p>
            </p:txBody>
          </p:sp>
        </p:grpSp>
      </p:grpSp>
      <p:sp>
        <p:nvSpPr>
          <p:cNvPr id="114" name="TextBox 7"/>
          <p:cNvSpPr txBox="1"/>
          <p:nvPr/>
        </p:nvSpPr>
        <p:spPr>
          <a:xfrm>
            <a:off x="217891" y="6599370"/>
            <a:ext cx="14257167" cy="5445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9969" tIns="39969" rIns="39969" bIns="39969">
            <a:spAutoFit/>
          </a:bodyPr>
          <a:lstStyle/>
          <a:p>
            <a:pPr/>
            <a:r>
              <a:t>Mental health conditions represent one of the most pressing public health challenges in the United States, yet population-level early warning systems remain underdeveloped. This paper presents a dual-level predictive framework for frequent mental distress (14+ poor mental health days/30) using six years of CDC BRFSS data (2019–2024). Study A forecasts state-level distress prevalence via Population LSTM, ARIMA, and Linear Regression. Study B classifies individual-level risk using a novel Hybrid LSTM, XGBoost, Random Forest, and Logistic Regression. The Hybrid LSTM matches XGBoost on aggregate performance (AUC-ROC 0.849, PR-AUC 0.536) while achieving superior fairness across ACE burden and race subgroups.</a:t>
            </a:r>
          </a:p>
        </p:txBody>
      </p:sp>
      <p:grpSp>
        <p:nvGrpSpPr>
          <p:cNvPr id="119" name="Group 23"/>
          <p:cNvGrpSpPr/>
          <p:nvPr/>
        </p:nvGrpSpPr>
        <p:grpSpPr>
          <a:xfrm>
            <a:off x="29843154" y="20778141"/>
            <a:ext cx="13979556" cy="8175760"/>
            <a:chOff x="4078" y="-703150"/>
            <a:chExt cx="13979554" cy="8175758"/>
          </a:xfrm>
        </p:grpSpPr>
        <p:grpSp>
          <p:nvGrpSpPr>
            <p:cNvPr id="117" name="Title 1"/>
            <p:cNvGrpSpPr/>
            <p:nvPr/>
          </p:nvGrpSpPr>
          <p:grpSpPr>
            <a:xfrm>
              <a:off x="4078" y="-703151"/>
              <a:ext cx="13979555" cy="860743"/>
              <a:chOff x="0" y="0"/>
              <a:chExt cx="13979554" cy="860742"/>
            </a:xfrm>
          </p:grpSpPr>
          <p:sp>
            <p:nvSpPr>
              <p:cNvPr id="115" name="Shape"/>
              <p:cNvSpPr/>
              <p:nvPr/>
            </p:nvSpPr>
            <p:spPr>
              <a:xfrm>
                <a:off x="-1" y="-1"/>
                <a:ext cx="13979555" cy="86074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07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102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ctr">
                  <a:defRPr baseline="-25000" sz="4000">
                    <a:latin typeface="+mj-lt"/>
                    <a:ea typeface="+mj-ea"/>
                    <a:cs typeface="+mj-cs"/>
                    <a:sym typeface="Arial"/>
                  </a:defRPr>
                </a:pPr>
              </a:p>
            </p:txBody>
          </p:sp>
          <p:sp>
            <p:nvSpPr>
              <p:cNvPr id="116" name="Conclusion"/>
              <p:cNvSpPr txBox="1"/>
              <p:nvPr/>
            </p:nvSpPr>
            <p:spPr>
              <a:xfrm>
                <a:off x="45753" y="0"/>
                <a:ext cx="13888048" cy="6963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>
                <a:lvl1pPr algn="ctr">
                  <a:defRPr sz="430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  <a:sym typeface="Arial"/>
                  </a:defRPr>
                </a:lvl1pPr>
              </a:lstStyle>
              <a:p>
                <a:pPr/>
                <a:r>
                  <a:t>Conclusion</a:t>
                </a:r>
              </a:p>
            </p:txBody>
          </p:sp>
        </p:grpSp>
        <p:sp>
          <p:nvSpPr>
            <p:cNvPr id="118" name="Rectangle 36"/>
            <p:cNvSpPr/>
            <p:nvPr/>
          </p:nvSpPr>
          <p:spPr>
            <a:xfrm>
              <a:off x="5166" y="-685669"/>
              <a:ext cx="13977379" cy="8158277"/>
            </a:xfrm>
            <a:prstGeom prst="rect">
              <a:avLst/>
            </a:prstGeom>
            <a:noFill/>
            <a:ln w="952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l">
                <a:defRPr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grpSp>
        <p:nvGrpSpPr>
          <p:cNvPr id="124" name="Group 17"/>
          <p:cNvGrpSpPr/>
          <p:nvPr/>
        </p:nvGrpSpPr>
        <p:grpSpPr>
          <a:xfrm>
            <a:off x="21889" y="12393231"/>
            <a:ext cx="14792785" cy="10001439"/>
            <a:chOff x="0" y="0"/>
            <a:chExt cx="14792783" cy="10001438"/>
          </a:xfrm>
        </p:grpSpPr>
        <p:sp>
          <p:nvSpPr>
            <p:cNvPr id="120" name="Rectangle 20"/>
            <p:cNvSpPr/>
            <p:nvPr/>
          </p:nvSpPr>
          <p:spPr>
            <a:xfrm>
              <a:off x="8767" y="-1"/>
              <a:ext cx="14730679" cy="10001440"/>
            </a:xfrm>
            <a:prstGeom prst="rect">
              <a:avLst/>
            </a:prstGeom>
            <a:noFill/>
            <a:ln w="952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l">
                <a:defRPr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grpSp>
          <p:nvGrpSpPr>
            <p:cNvPr id="123" name="Rectangle 69"/>
            <p:cNvGrpSpPr/>
            <p:nvPr/>
          </p:nvGrpSpPr>
          <p:grpSpPr>
            <a:xfrm>
              <a:off x="-1" y="0"/>
              <a:ext cx="14792785" cy="698336"/>
              <a:chOff x="0" y="0"/>
              <a:chExt cx="14792783" cy="698334"/>
            </a:xfrm>
          </p:grpSpPr>
          <p:sp>
            <p:nvSpPr>
              <p:cNvPr id="121" name="Shape"/>
              <p:cNvSpPr/>
              <p:nvPr/>
            </p:nvSpPr>
            <p:spPr>
              <a:xfrm>
                <a:off x="-1" y="-1"/>
                <a:ext cx="14792785" cy="6983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6" h="21600" fill="norm" stroke="1" extrusionOk="0">
                    <a:moveTo>
                      <a:pt x="5" y="0"/>
                    </a:moveTo>
                    <a:lnTo>
                      <a:pt x="21591" y="0"/>
                    </a:lnTo>
                    <a:cubicBezTo>
                      <a:pt x="21586" y="7200"/>
                      <a:pt x="21600" y="14400"/>
                      <a:pt x="21595" y="21600"/>
                    </a:cubicBezTo>
                    <a:lnTo>
                      <a:pt x="0" y="21476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C8102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ctr">
                  <a:defRPr baseline="-25000">
                    <a:latin typeface="+mj-lt"/>
                    <a:ea typeface="+mj-ea"/>
                    <a:cs typeface="+mj-cs"/>
                    <a:sym typeface="Arial"/>
                  </a:defRPr>
                </a:pPr>
              </a:p>
            </p:txBody>
          </p:sp>
          <p:sp>
            <p:nvSpPr>
              <p:cNvPr id="122" name="Background"/>
              <p:cNvSpPr txBox="1"/>
              <p:nvPr/>
            </p:nvSpPr>
            <p:spPr>
              <a:xfrm>
                <a:off x="45621" y="0"/>
                <a:ext cx="14701541" cy="64445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>
                <a:lvl1pPr algn="ctr">
                  <a:defRPr sz="430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  <a:sym typeface="Arial"/>
                  </a:defRPr>
                </a:lvl1pPr>
              </a:lstStyle>
              <a:p>
                <a:pPr/>
                <a:r>
                  <a:t>Background</a:t>
                </a:r>
              </a:p>
            </p:txBody>
          </p:sp>
        </p:grpSp>
      </p:grpSp>
      <p:sp>
        <p:nvSpPr>
          <p:cNvPr id="125" name="Rectangle 34"/>
          <p:cNvSpPr/>
          <p:nvPr/>
        </p:nvSpPr>
        <p:spPr>
          <a:xfrm>
            <a:off x="29849353" y="5497671"/>
            <a:ext cx="14009363" cy="12172185"/>
          </a:xfrm>
          <a:prstGeom prst="rect">
            <a:avLst/>
          </a:prstGeom>
          <a:ln>
            <a:solidFill>
              <a:srgbClr val="C00000"/>
            </a:solidFill>
            <a:miter/>
          </a:ln>
        </p:spPr>
        <p:txBody>
          <a:bodyPr lIns="45719" rIns="45719" anchor="ctr"/>
          <a:lstStyle/>
          <a:p>
            <a:pPr algn="l">
              <a:defRPr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grpSp>
        <p:nvGrpSpPr>
          <p:cNvPr id="128" name="Rectangle 8"/>
          <p:cNvGrpSpPr/>
          <p:nvPr/>
        </p:nvGrpSpPr>
        <p:grpSpPr>
          <a:xfrm>
            <a:off x="29834775" y="5497676"/>
            <a:ext cx="14026117" cy="754054"/>
            <a:chOff x="0" y="0"/>
            <a:chExt cx="14026115" cy="754053"/>
          </a:xfrm>
        </p:grpSpPr>
        <p:sp>
          <p:nvSpPr>
            <p:cNvPr id="126" name="Shape"/>
            <p:cNvSpPr/>
            <p:nvPr/>
          </p:nvSpPr>
          <p:spPr>
            <a:xfrm>
              <a:off x="0" y="0"/>
              <a:ext cx="14026117" cy="7540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2" y="0"/>
                  </a:moveTo>
                  <a:lnTo>
                    <a:pt x="21597" y="0"/>
                  </a:lnTo>
                  <a:cubicBezTo>
                    <a:pt x="21598" y="5773"/>
                    <a:pt x="21599" y="15533"/>
                    <a:pt x="21600" y="21306"/>
                  </a:cubicBezTo>
                  <a:lnTo>
                    <a:pt x="0" y="2160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C8102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sz="4300"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127" name="Results"/>
            <p:cNvSpPr txBox="1"/>
            <p:nvPr/>
          </p:nvSpPr>
          <p:spPr>
            <a:xfrm>
              <a:off x="45720" y="-1"/>
              <a:ext cx="13934678" cy="6958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4300"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Results</a:t>
              </a:r>
            </a:p>
          </p:txBody>
        </p:sp>
      </p:grpSp>
      <p:grpSp>
        <p:nvGrpSpPr>
          <p:cNvPr id="133" name="Group 24"/>
          <p:cNvGrpSpPr/>
          <p:nvPr/>
        </p:nvGrpSpPr>
        <p:grpSpPr>
          <a:xfrm>
            <a:off x="29827979" y="28049550"/>
            <a:ext cx="14009906" cy="5787019"/>
            <a:chOff x="0" y="0"/>
            <a:chExt cx="14009904" cy="5787018"/>
          </a:xfrm>
        </p:grpSpPr>
        <p:sp>
          <p:nvSpPr>
            <p:cNvPr id="129" name="Rectangle 36"/>
            <p:cNvSpPr/>
            <p:nvPr/>
          </p:nvSpPr>
          <p:spPr>
            <a:xfrm>
              <a:off x="-1" y="0"/>
              <a:ext cx="14002822" cy="5787019"/>
            </a:xfrm>
            <a:prstGeom prst="rect">
              <a:avLst/>
            </a:prstGeom>
            <a:noFill/>
            <a:ln w="952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l">
                <a:defRPr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grpSp>
          <p:nvGrpSpPr>
            <p:cNvPr id="132" name="Rectangle 2"/>
            <p:cNvGrpSpPr/>
            <p:nvPr/>
          </p:nvGrpSpPr>
          <p:grpSpPr>
            <a:xfrm>
              <a:off x="11166" y="0"/>
              <a:ext cx="13998739" cy="780259"/>
              <a:chOff x="0" y="0"/>
              <a:chExt cx="13998737" cy="780257"/>
            </a:xfrm>
          </p:grpSpPr>
          <p:sp>
            <p:nvSpPr>
              <p:cNvPr id="130" name="Shape"/>
              <p:cNvSpPr/>
              <p:nvPr/>
            </p:nvSpPr>
            <p:spPr>
              <a:xfrm>
                <a:off x="-1" y="-1"/>
                <a:ext cx="13998739" cy="7802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0" y="0"/>
                    </a:moveTo>
                    <a:lnTo>
                      <a:pt x="21600" y="0"/>
                    </a:lnTo>
                    <a:lnTo>
                      <a:pt x="21600" y="21561"/>
                    </a:lnTo>
                    <a:lnTo>
                      <a:pt x="0" y="21600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C8102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ctr" defTabSz="5016500">
                  <a:defRPr sz="400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</a:p>
            </p:txBody>
          </p:sp>
          <p:sp>
            <p:nvSpPr>
              <p:cNvPr id="131" name="Future Direction"/>
              <p:cNvSpPr txBox="1"/>
              <p:nvPr/>
            </p:nvSpPr>
            <p:spPr>
              <a:xfrm>
                <a:off x="45720" y="-1"/>
                <a:ext cx="13907298" cy="6958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>
                <a:lvl1pPr algn="ctr" defTabSz="5016500">
                  <a:defRPr sz="430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  <a:sym typeface="Arial"/>
                  </a:defRPr>
                </a:lvl1pPr>
              </a:lstStyle>
              <a:p>
                <a:pPr/>
                <a:r>
                  <a:t>Future Direction</a:t>
                </a:r>
              </a:p>
            </p:txBody>
          </p:sp>
        </p:grpSp>
      </p:grpSp>
      <p:sp>
        <p:nvSpPr>
          <p:cNvPr id="134" name="TextBox 50"/>
          <p:cNvSpPr txBox="1"/>
          <p:nvPr/>
        </p:nvSpPr>
        <p:spPr>
          <a:xfrm>
            <a:off x="66769" y="13346429"/>
            <a:ext cx="14257168" cy="9268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9969" tIns="39969" rIns="39969" bIns="39969">
            <a:spAutoFit/>
          </a:bodyPr>
          <a:lstStyle/>
          <a:p>
            <a:pPr/>
            <a:r>
              <a:t>Mental health disorders affect approximately one in five U.S. adults annually, yet surveillance systems continue to rely on slow, retrospective reporting mechanisms poorly suited to proactive intervention. Frequent mental distress  -defined by the CDC as 14 or more poor mental health days in the past 30-  affects an estimated 13 to 14% of U.S. adults and serves as a key indicator in national public health monitoring.</a:t>
            </a:r>
          </a:p>
          <a:p>
            <a:pPr/>
          </a:p>
          <a:p>
            <a:pPr/>
            <a:r>
              <a:t>The CDC's BRFSS is the largest annual health survey in the U.S., covering 400,000+ respondents across all 50 states. Unlike clinical datasets, BRFSS captures behavioral risk factors, social determinants of health (SDOH), chronic conditions, and since 2019, a comprehensive Adverse Childhood Experiences (ACE) module, making it an unusually rich source for mental health prediction.</a:t>
            </a:r>
          </a:p>
          <a:p>
            <a:pPr/>
            <a:r>
              <a:t>Despite this, no prior work has (1) applied temporal LSTMs to multi-year BRFSS state aggregates, (2) framed ACE variables as a sequential input to a recurrent network, or (3) combined population- and individual-level modeling into a unified dual-study framework for mental health prediction. This paper addresses all three gaps.</a:t>
            </a:r>
          </a:p>
        </p:txBody>
      </p:sp>
      <p:sp>
        <p:nvSpPr>
          <p:cNvPr id="135" name="TextBox 52"/>
          <p:cNvSpPr txBox="1"/>
          <p:nvPr/>
        </p:nvSpPr>
        <p:spPr>
          <a:xfrm>
            <a:off x="30005395" y="6165524"/>
            <a:ext cx="13500738" cy="8176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9969" tIns="39969" rIns="39969" bIns="39969">
            <a:spAutoFit/>
          </a:bodyPr>
          <a:lstStyle/>
          <a:p>
            <a:pPr/>
            <a:r>
              <a:t>Study B</a:t>
            </a:r>
          </a:p>
          <a:p>
            <a:pPr/>
            <a:r>
              <a:t>  • All models achieve strong discrimination: AUC-ROC 0.840–0.849, PR-AUC 0.518–0.536</a:t>
            </a:r>
          </a:p>
          <a:p>
            <a:pPr/>
            <a:r>
              <a:t>  • Hybrid LSTM matches XGBoost exactly (AUC 0.849, PR-AUC 0.536)</a:t>
            </a:r>
          </a:p>
          <a:p>
            <a:pPr/>
            <a:r>
              <a:t>  Key finding: Hybrid LSTM has smallest AUC gap between High vs. Low ACE groups (0.026 vs. XGBoost's 0.029), and best fairness across racial subgroups</a:t>
            </a:r>
          </a:p>
          <a:p>
            <a:pPr/>
            <a:r>
              <a:t>The Hybrid LSTM matches XGBoost exactly on both primary metrics. More importantly, it achieves the smallest AUC performance gap between High ACE (≥4) and Low ACE (0–3) respondents (0.026 vs. XGBoost's 0.029), and the most consistent performance across racial subgroups- supporting the core hypothesis that sequence-aware modeling of ACE adversity captures cumulative patterns that a flat feature vector misses. A persistent race-based AUC gap (0.034–0.038 disadvantaging Black and Other/Multiracial respondents) was consistent across all models, indicating a data-level feature representation limitation rather than a modeling artifact.</a:t>
            </a:r>
          </a:p>
        </p:txBody>
      </p:sp>
      <p:sp>
        <p:nvSpPr>
          <p:cNvPr id="136" name="TextBox 53"/>
          <p:cNvSpPr txBox="1"/>
          <p:nvPr/>
        </p:nvSpPr>
        <p:spPr>
          <a:xfrm>
            <a:off x="30078742" y="21870150"/>
            <a:ext cx="13550584" cy="5991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9969" tIns="39969" rIns="39969" bIns="39969" anchor="ctr">
            <a:spAutoFit/>
          </a:bodyPr>
          <a:lstStyle/>
          <a:p>
            <a:pPr/>
            <a:r>
              <a:t>A dual-level predictive framework using BRFSS data successfully identifies frequent mental distress at both population and individual scales. While ARIMA dominates in the data-scarce state-level setting, the Hybrid LSTM demonstrates that sequence-aware modeling of ACE adversity yields both competitive accuracy and meaningful fairness advantages, particularly for high-ACE individuals.</a:t>
            </a:r>
          </a:p>
          <a:p>
            <a:pPr/>
            <a:r>
              <a:t>Together, the two studies establish a replicable dual-level surveillance framework that could inform resource allocation, targeted screening programs, and policy intervention. The results reinforce that cumulative childhood adversity, modeled as a sequence rather than a flat count, offers both predictive and equity benefits for mental health screening.</a:t>
            </a:r>
          </a:p>
        </p:txBody>
      </p:sp>
      <p:pic>
        <p:nvPicPr>
          <p:cNvPr id="13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07648" y="2226125"/>
            <a:ext cx="5838826" cy="12192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3" name="Group 4"/>
          <p:cNvGrpSpPr/>
          <p:nvPr/>
        </p:nvGrpSpPr>
        <p:grpSpPr>
          <a:xfrm>
            <a:off x="15104022" y="5513399"/>
            <a:ext cx="14257168" cy="7685643"/>
            <a:chOff x="0" y="0"/>
            <a:chExt cx="14257166" cy="7685641"/>
          </a:xfrm>
        </p:grpSpPr>
        <p:sp>
          <p:nvSpPr>
            <p:cNvPr id="138" name="TextBox 51"/>
            <p:cNvSpPr txBox="1"/>
            <p:nvPr/>
          </p:nvSpPr>
          <p:spPr>
            <a:xfrm>
              <a:off x="344353" y="1145319"/>
              <a:ext cx="13885831" cy="654032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9969" tIns="39969" rIns="39969" bIns="39969" numCol="1" anchor="t">
              <a:noAutofit/>
            </a:bodyPr>
            <a:lstStyle/>
            <a:p>
              <a:pPr/>
              <a:r>
                <a:t>Study A: Population-level forecasting (48 states, LOSO CV)</a:t>
              </a:r>
            </a:p>
            <a:p>
              <a:pPr/>
              <a:r>
                <a:t>  • Input: state-year panel, 24 features, 2019–2023 → predict 2024 prevalence</a:t>
              </a:r>
            </a:p>
            <a:p>
              <a:pPr/>
              <a:r>
                <a:t>  • Models: Linear Regression baseline | ARIMA | Population LSTM (2-layer, 32→16 units)</a:t>
              </a:r>
            </a:p>
            <a:p>
              <a:pPr/>
            </a:p>
            <a:p>
              <a:pPr/>
              <a:r>
                <a:t>Study B :Individual-level classification (2024 BRFSS, n ≈ 450,000)</a:t>
              </a:r>
            </a:p>
            <a:p>
              <a:pPr/>
              <a:r>
                <a:t>  • Novel Hybrid LSTM: ACE variables as ordered 11-item sequence (LSTM stream, 64 units) + 56 static features (dense stream) → merged representation</a:t>
              </a:r>
            </a:p>
            <a:p>
              <a:pPr/>
              <a:r>
                <a:t>  • Baselines: Logistic Regression | Random Forest | XGBoost</a:t>
              </a:r>
            </a:p>
            <a:p>
              <a:pPr/>
              <a:r>
                <a:t>  • Evaluation: AUC-ROC, PR-AUC (primary); fairness disaggregated by race, income, ACE burden</a:t>
              </a:r>
            </a:p>
          </p:txBody>
        </p:sp>
        <p:sp>
          <p:nvSpPr>
            <p:cNvPr id="139" name="Rectangle 21"/>
            <p:cNvSpPr/>
            <p:nvPr/>
          </p:nvSpPr>
          <p:spPr>
            <a:xfrm>
              <a:off x="103099" y="919064"/>
              <a:ext cx="14141113" cy="6704879"/>
            </a:xfrm>
            <a:prstGeom prst="rect">
              <a:avLst/>
            </a:prstGeom>
            <a:noFill/>
            <a:ln w="952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l">
                <a:defRPr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grpSp>
          <p:nvGrpSpPr>
            <p:cNvPr id="142" name="Rectangle 8"/>
            <p:cNvGrpSpPr/>
            <p:nvPr/>
          </p:nvGrpSpPr>
          <p:grpSpPr>
            <a:xfrm>
              <a:off x="0" y="0"/>
              <a:ext cx="14257167" cy="947002"/>
              <a:chOff x="0" y="0"/>
              <a:chExt cx="14257166" cy="947001"/>
            </a:xfrm>
          </p:grpSpPr>
          <p:sp>
            <p:nvSpPr>
              <p:cNvPr id="140" name="Shape"/>
              <p:cNvSpPr/>
              <p:nvPr/>
            </p:nvSpPr>
            <p:spPr>
              <a:xfrm>
                <a:off x="0" y="186820"/>
                <a:ext cx="14257167" cy="6914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2" y="0"/>
                    </a:moveTo>
                    <a:lnTo>
                      <a:pt x="21597" y="0"/>
                    </a:lnTo>
                    <a:cubicBezTo>
                      <a:pt x="21598" y="5773"/>
                      <a:pt x="21599" y="15533"/>
                      <a:pt x="21600" y="21306"/>
                    </a:cubicBezTo>
                    <a:lnTo>
                      <a:pt x="0" y="21600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C8102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ctr">
                  <a:defRPr sz="430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</a:p>
            </p:txBody>
          </p:sp>
          <p:sp>
            <p:nvSpPr>
              <p:cNvPr id="141" name="Methods"/>
              <p:cNvSpPr txBox="1"/>
              <p:nvPr/>
            </p:nvSpPr>
            <p:spPr>
              <a:xfrm>
                <a:off x="54543" y="0"/>
                <a:ext cx="14188437" cy="94700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>
                <a:lvl1pPr algn="ctr">
                  <a:defRPr sz="430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  <a:sym typeface="Arial"/>
                  </a:defRPr>
                </a:lvl1pPr>
              </a:lstStyle>
              <a:p>
                <a:pPr/>
                <a:r>
                  <a:t>Methods</a:t>
                </a:r>
              </a:p>
            </p:txBody>
          </p:sp>
        </p:grpSp>
      </p:grpSp>
      <p:grpSp>
        <p:nvGrpSpPr>
          <p:cNvPr id="146" name="Rectangle 8"/>
          <p:cNvGrpSpPr/>
          <p:nvPr/>
        </p:nvGrpSpPr>
        <p:grpSpPr>
          <a:xfrm>
            <a:off x="15142852" y="12975981"/>
            <a:ext cx="14373561" cy="1033779"/>
            <a:chOff x="0" y="0"/>
            <a:chExt cx="14373559" cy="1033777"/>
          </a:xfrm>
        </p:grpSpPr>
        <p:sp>
          <p:nvSpPr>
            <p:cNvPr id="144" name="Shape"/>
            <p:cNvSpPr/>
            <p:nvPr/>
          </p:nvSpPr>
          <p:spPr>
            <a:xfrm>
              <a:off x="0" y="0"/>
              <a:ext cx="14373561" cy="7727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2" y="0"/>
                  </a:moveTo>
                  <a:lnTo>
                    <a:pt x="21597" y="0"/>
                  </a:lnTo>
                  <a:cubicBezTo>
                    <a:pt x="21598" y="5773"/>
                    <a:pt x="21599" y="15533"/>
                    <a:pt x="21600" y="21306"/>
                  </a:cubicBezTo>
                  <a:lnTo>
                    <a:pt x="0" y="2160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C8102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sz="4300"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145" name="Results"/>
            <p:cNvSpPr txBox="1"/>
            <p:nvPr/>
          </p:nvSpPr>
          <p:spPr>
            <a:xfrm>
              <a:off x="46093" y="-1"/>
              <a:ext cx="14280616" cy="10337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 algn="ctr">
                <a:defRPr sz="4300"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Results</a:t>
              </a:r>
            </a:p>
          </p:txBody>
        </p:sp>
      </p:grpSp>
      <p:sp>
        <p:nvSpPr>
          <p:cNvPr id="147" name="Rectangle 34"/>
          <p:cNvSpPr/>
          <p:nvPr/>
        </p:nvSpPr>
        <p:spPr>
          <a:xfrm>
            <a:off x="15210651" y="13760213"/>
            <a:ext cx="14237962" cy="14293126"/>
          </a:xfrm>
          <a:prstGeom prst="rect">
            <a:avLst/>
          </a:prstGeom>
          <a:ln>
            <a:solidFill>
              <a:srgbClr val="C00000"/>
            </a:solidFill>
            <a:miter/>
          </a:ln>
        </p:spPr>
        <p:txBody>
          <a:bodyPr lIns="45719" rIns="45719" anchor="ctr"/>
          <a:lstStyle/>
          <a:p>
            <a:pPr algn="l">
              <a:defRPr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48" name="Study A…"/>
          <p:cNvSpPr txBox="1"/>
          <p:nvPr/>
        </p:nvSpPr>
        <p:spPr>
          <a:xfrm>
            <a:off x="15108863" y="14119280"/>
            <a:ext cx="14247485" cy="6549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Study A</a:t>
            </a:r>
          </a:p>
          <a:p>
            <a:pPr/>
            <a:r>
              <a:t>  • ARIMA outperforms Population LSTM (MAE 0.0116, R=0.801 vs. MAE 0.0259, R=0.347)</a:t>
            </a:r>
          </a:p>
          <a:p>
            <a:pPr/>
            <a:r>
              <a:t>  • LSTM underperformance expected: only 47 training sequences per LOSO fold</a:t>
            </a:r>
          </a:p>
          <a:p>
            <a:pPr/>
            <a:r>
              <a:t>  • Geographic insight: Oregon (17.6%), Louisiana (17.5%), Arkansas (17.3%) show highest 2024 distress; Massachusetts alone recovers below COVID peak</a:t>
            </a:r>
          </a:p>
          <a:p>
            <a:pPr/>
            <a:r>
              <a:t>A secondary geographic analysis revealed meaningful heterogeneity: Oregon (17.6%), Louisiana (17.5%), and Arkansas (17.3%) posted the highest 2024 distress rates, while Massachusetts was the only state to recover meaningfully below its COVID-era peak. Western states showed the largest COVID-era spikes (2019–2021), while Southern states show persistently elevated rates driven by pre-existing structural SDOH conditions rather than pandemic dynamics.</a:t>
            </a:r>
          </a:p>
        </p:txBody>
      </p:sp>
      <p:pic>
        <p:nvPicPr>
          <p:cNvPr id="149" name="studyA_pred_vs_actual.png" descr="studyA_pred_vs_actual.png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3614" y="22742890"/>
            <a:ext cx="29442322" cy="9658817"/>
          </a:xfrm>
          <a:prstGeom prst="rect">
            <a:avLst/>
          </a:prstGeom>
          <a:ln w="12700">
            <a:miter lim="400000"/>
          </a:ln>
        </p:spPr>
      </p:pic>
      <p:pic>
        <p:nvPicPr>
          <p:cNvPr id="150" name="baseline_roc_pr_curves.png" descr="baseline_roc_pr_curves.png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9495770" y="14288424"/>
            <a:ext cx="14373561" cy="6211053"/>
          </a:xfrm>
          <a:prstGeom prst="rect">
            <a:avLst/>
          </a:prstGeom>
          <a:ln w="12700">
            <a:miter lim="400000"/>
          </a:ln>
        </p:spPr>
      </p:pic>
      <p:sp>
        <p:nvSpPr>
          <p:cNvPr id="151" name="• Subgroup-specific threshold recalibration to improve precision-recall balance across income and race groups…"/>
          <p:cNvSpPr txBox="1"/>
          <p:nvPr/>
        </p:nvSpPr>
        <p:spPr>
          <a:xfrm>
            <a:off x="29922202" y="29033639"/>
            <a:ext cx="13821460" cy="3818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• Subgroup-specific threshold recalibration to improve precision-recall balance across income and race groups</a:t>
            </a:r>
          </a:p>
          <a:p>
            <a:pPr/>
            <a:r>
              <a:t>• Expand feature set with immigration status, neighborhood-level, and discrimination-related variables to close race-based AUC gap</a:t>
            </a:r>
          </a:p>
          <a:p>
            <a:pPr/>
            <a:r>
              <a:t>• County-level BRFSS estimates or finer temporal resolution to better leverage Population LSTM capacity</a:t>
            </a:r>
          </a:p>
          <a:p>
            <a:pPr/>
            <a:r>
              <a:t>• Prospective validation on 2025+ BRFSS waves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Executive">
  <a:themeElements>
    <a:clrScheme name="Executiv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0000FF"/>
      </a:hlink>
      <a:folHlink>
        <a:srgbClr val="FF00FF"/>
      </a:folHlink>
    </a:clrScheme>
    <a:fontScheme name="Executiv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8575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-25000" cap="none" i="0" spc="0" strike="noStrike" sz="3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Palatino Linotype"/>
            <a:ea typeface="Palatino Linotype"/>
            <a:cs typeface="Palatino Linotype"/>
            <a:sym typeface="Palatino Linotyp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8575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just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Executive">
  <a:themeElements>
    <a:clrScheme name="Executiv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0000FF"/>
      </a:hlink>
      <a:folHlink>
        <a:srgbClr val="FF00FF"/>
      </a:folHlink>
    </a:clrScheme>
    <a:fontScheme name="Executiv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8575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-25000" cap="none" i="0" spc="0" strike="noStrike" sz="3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Palatino Linotype"/>
            <a:ea typeface="Palatino Linotype"/>
            <a:cs typeface="Palatino Linotype"/>
            <a:sym typeface="Palatino Linotyp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8575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just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